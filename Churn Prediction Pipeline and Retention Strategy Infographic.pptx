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57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— CHURN PREDICTION SYSTEM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42875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Architecture</a:t>
            </a:r>
            <a:endParaRPr lang="en-US" sz="8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086350"/>
            <a:ext cx="16002000" cy="152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00500"/>
            <a:ext cx="2971800" cy="4191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7800" y="4305300"/>
            <a:ext cx="2381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3A8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447800" y="5429250"/>
            <a:ext cx="2381250" cy="35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Ingestion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447800" y="6286500"/>
            <a:ext cx="238125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stream ingestion of customer events and transactions.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4000500"/>
            <a:ext cx="2971800" cy="419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5350" y="4305300"/>
            <a:ext cx="2381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3A8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6"/>
          <p:cNvSpPr/>
          <p:nvPr/>
        </p:nvSpPr>
        <p:spPr>
          <a:xfrm>
            <a:off x="4705350" y="5429250"/>
            <a:ext cx="2381250" cy="704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705350" y="6286500"/>
            <a:ext cx="2381250" cy="1276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Tenure, complaints, usage and balance ratios built into signals.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0" y="4000500"/>
            <a:ext cx="2971800" cy="4191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62900" y="4305300"/>
            <a:ext cx="2381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3A8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4200" dirty="0"/>
          </a:p>
        </p:txBody>
      </p:sp>
      <p:sp>
        <p:nvSpPr>
          <p:cNvPr id="15" name="Text 9"/>
          <p:cNvSpPr/>
          <p:nvPr/>
        </p:nvSpPr>
        <p:spPr>
          <a:xfrm>
            <a:off x="7962900" y="5429250"/>
            <a:ext cx="2381250" cy="704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7962900" y="6286500"/>
            <a:ext cx="2381250" cy="96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candidate models tested head-to-head on recall and speed.</a:t>
            </a:r>
            <a:endParaRPr lang="en-US" sz="1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5650" y="3619500"/>
            <a:ext cx="2971800" cy="4953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01400" y="3924300"/>
            <a:ext cx="2476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DEPLOYED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1201400" y="4476750"/>
            <a:ext cx="24765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7.27μs</a:t>
            </a:r>
            <a:endParaRPr lang="en-US" sz="6150" dirty="0"/>
          </a:p>
        </p:txBody>
      </p:sp>
      <p:sp>
        <p:nvSpPr>
          <p:cNvPr id="20" name="Text 13"/>
          <p:cNvSpPr/>
          <p:nvPr/>
        </p:nvSpPr>
        <p:spPr>
          <a:xfrm>
            <a:off x="11201400" y="5715000"/>
            <a:ext cx="24765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1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Ultra-fast inference per prediction from the champion decision tree, served in production.</a:t>
            </a:r>
            <a:endParaRPr lang="en-US" sz="1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0" y="4000500"/>
            <a:ext cx="2971800" cy="41910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478000" y="4305300"/>
            <a:ext cx="2381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3A8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∞</a:t>
            </a:r>
            <a:endParaRPr lang="en-US" sz="4200" dirty="0"/>
          </a:p>
        </p:txBody>
      </p:sp>
      <p:sp>
        <p:nvSpPr>
          <p:cNvPr id="23" name="Text 15"/>
          <p:cNvSpPr/>
          <p:nvPr/>
        </p:nvSpPr>
        <p:spPr>
          <a:xfrm>
            <a:off x="14478000" y="5429250"/>
            <a:ext cx="2381250" cy="704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&amp; Retrain</a:t>
            </a:r>
            <a:endParaRPr lang="en-US" sz="2400" dirty="0"/>
          </a:p>
        </p:txBody>
      </p:sp>
      <p:sp>
        <p:nvSpPr>
          <p:cNvPr id="24" name="Text 16"/>
          <p:cNvSpPr/>
          <p:nvPr/>
        </p:nvSpPr>
        <p:spPr>
          <a:xfrm>
            <a:off x="14478000" y="6286500"/>
            <a:ext cx="2381250" cy="96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Governance: data drift automatically triggers retraining.</a:t>
            </a:r>
            <a:endParaRPr lang="en-US" sz="1800" dirty="0"/>
          </a:p>
        </p:txBody>
      </p:sp>
      <p:sp>
        <p:nvSpPr>
          <p:cNvPr id="25" name="Text 17"/>
          <p:cNvSpPr/>
          <p:nvPr/>
        </p:nvSpPr>
        <p:spPr>
          <a:xfrm>
            <a:off x="1143000" y="9048750"/>
            <a:ext cx="16002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7F8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 in → engineer → evaluate 12 models → deploy champion → monitor drift and retrain automatically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57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MODEL PERFORMANCE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0477500" cy="96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Balanced, Fast, Decisive</a:t>
            </a:r>
            <a:endParaRPr lang="en-US" sz="7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0" y="0"/>
            <a:ext cx="6096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54000" y="1428750"/>
            <a:ext cx="476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CHAMPION · DECISION TREE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858750" y="2095500"/>
            <a:ext cx="51435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18000" dirty="0"/>
          </a:p>
        </p:txBody>
      </p:sp>
      <p:sp>
        <p:nvSpPr>
          <p:cNvPr id="7" name="Text 4"/>
          <p:cNvSpPr/>
          <p:nvPr/>
        </p:nvSpPr>
        <p:spPr>
          <a:xfrm>
            <a:off x="12954000" y="4762500"/>
            <a:ext cx="45720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FFF1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true churners captured, with only a minor false-alarm cost.</a:t>
            </a:r>
            <a:endParaRPr lang="en-US" sz="2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2954000" y="6477000"/>
            <a:ext cx="4572000" cy="190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54000" y="6858000"/>
            <a:ext cx="4572000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7.27μs</a:t>
            </a:r>
            <a:endParaRPr lang="en-US" sz="7200" dirty="0"/>
          </a:p>
        </p:txBody>
      </p:sp>
      <p:sp>
        <p:nvSpPr>
          <p:cNvPr id="10" name="Text 6"/>
          <p:cNvSpPr/>
          <p:nvPr/>
        </p:nvSpPr>
        <p:spPr>
          <a:xfrm>
            <a:off x="12954000" y="8001000"/>
            <a:ext cx="4572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1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time — the fastest operational profile among candidates.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1143000" y="3905250"/>
            <a:ext cx="10287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7F8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compared across 12 candidate models — champion highlighted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143000" y="4667250"/>
            <a:ext cx="2667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</a:t>
            </a:r>
            <a:endParaRPr lang="en-US" sz="2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4705350"/>
            <a:ext cx="7429500" cy="3048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4705350"/>
            <a:ext cx="4457700" cy="304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5524500"/>
            <a:ext cx="2667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</a:t>
            </a:r>
            <a:endParaRPr lang="en-US" sz="2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0" y="5562600"/>
            <a:ext cx="7429500" cy="3048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5562600"/>
            <a:ext cx="4000500" cy="3048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43000" y="6381750"/>
            <a:ext cx="2667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</a:t>
            </a:r>
            <a:endParaRPr lang="en-US" sz="2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0" y="6419850"/>
            <a:ext cx="7429500" cy="3048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0" y="6419850"/>
            <a:ext cx="4229100" cy="3048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143000" y="7239000"/>
            <a:ext cx="2667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PR-AUC</a:t>
            </a:r>
            <a:endParaRPr lang="en-US" sz="21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0" y="7277100"/>
            <a:ext cx="7429500" cy="304800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00500" y="7277100"/>
            <a:ext cx="3810000" cy="3048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143000" y="8096250"/>
            <a:ext cx="26670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</a:t>
            </a:r>
            <a:endParaRPr lang="en-US" sz="21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0500" y="8134350"/>
            <a:ext cx="7429500" cy="304800"/>
          </a:xfrm>
          <a:prstGeom prst="rect">
            <a:avLst/>
          </a:prstGeom>
        </p:spPr>
      </p:pic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00500" y="8134350"/>
            <a:ext cx="5905500" cy="3048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1143000" y="8953500"/>
            <a:ext cx="10287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7F8D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prioritized over precision: catching churners outweighs a few extra outreach calls.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57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93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DRIVERS &amp; STRATEGY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60020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Signals to Spend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3048000"/>
            <a:ext cx="4953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5A6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CHURN DRIVERS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619500"/>
            <a:ext cx="4953000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200000"/>
              </a:lnSpc>
              <a:buSzPct val="100000"/>
              <a:buChar char="•"/>
            </a:pPr>
            <a:r>
              <a:rPr lang="en-US" sz="22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tenure</a:t>
            </a:r>
            <a:endParaRPr lang="en-US" sz="2250" dirty="0"/>
          </a:p>
          <a:p>
            <a:pPr algn="l" marL="342900" indent="-342900">
              <a:lnSpc>
                <a:spcPct val="200000"/>
              </a:lnSpc>
              <a:buSzPct val="100000"/>
              <a:buChar char="•"/>
            </a:pPr>
            <a:r>
              <a:rPr lang="en-US" sz="22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resolution rate</a:t>
            </a:r>
            <a:endParaRPr lang="en-US" sz="2250" dirty="0"/>
          </a:p>
          <a:p>
            <a:pPr algn="l" marL="342900" indent="-342900">
              <a:lnSpc>
                <a:spcPct val="200000"/>
              </a:lnSpc>
              <a:buSzPct val="100000"/>
              <a:buChar char="•"/>
            </a:pPr>
            <a:r>
              <a:rPr lang="en-US" sz="22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banking usage</a:t>
            </a:r>
            <a:endParaRPr lang="en-US" sz="2250" dirty="0"/>
          </a:p>
          <a:p>
            <a:pPr algn="l" marL="342900" indent="-342900">
              <a:lnSpc>
                <a:spcPct val="200000"/>
              </a:lnSpc>
              <a:buSzPct val="100000"/>
              <a:buChar char="•"/>
            </a:pPr>
            <a:r>
              <a:rPr lang="en-US" sz="22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/ tenure ratio</a:t>
            </a:r>
            <a:endParaRPr lang="en-US" sz="2250" dirty="0"/>
          </a:p>
          <a:p>
            <a:pPr algn="l" marL="342900" indent="-342900">
              <a:lnSpc>
                <a:spcPct val="200000"/>
              </a:lnSpc>
              <a:buSzPct val="100000"/>
              <a:buChar char="•"/>
            </a:pPr>
            <a:r>
              <a:rPr lang="en-US" sz="22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support calls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667500" y="3048000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5A6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VALUE MATRIX · BUDGET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0" y="3619500"/>
            <a:ext cx="2857500" cy="2476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96100" y="3810000"/>
            <a:ext cx="24765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6896100" y="5143500"/>
            <a:ext cx="2476500" cy="619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/ High Value</a:t>
            </a:r>
            <a:endParaRPr lang="en-US" sz="1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3619500"/>
            <a:ext cx="2857500" cy="2476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906000" y="3810000"/>
            <a:ext cx="24765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6000" dirty="0"/>
          </a:p>
        </p:txBody>
      </p:sp>
      <p:sp>
        <p:nvSpPr>
          <p:cNvPr id="12" name="Text 8"/>
          <p:cNvSpPr/>
          <p:nvPr/>
        </p:nvSpPr>
        <p:spPr>
          <a:xfrm>
            <a:off x="9906000" y="5143500"/>
            <a:ext cx="2476500" cy="619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 / High Value</a:t>
            </a:r>
            <a:endParaRPr lang="en-US" sz="1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6248400"/>
            <a:ext cx="2857500" cy="2476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96100" y="6438900"/>
            <a:ext cx="24765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6000" dirty="0"/>
          </a:p>
        </p:txBody>
      </p:sp>
      <p:sp>
        <p:nvSpPr>
          <p:cNvPr id="15" name="Text 10"/>
          <p:cNvSpPr/>
          <p:nvPr/>
        </p:nvSpPr>
        <p:spPr>
          <a:xfrm>
            <a:off x="6896100" y="7772400"/>
            <a:ext cx="2476500" cy="619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/ Low Value</a:t>
            </a:r>
            <a:endParaRPr lang="en-US" sz="1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6248400"/>
            <a:ext cx="2857500" cy="2476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06000" y="6438900"/>
            <a:ext cx="24765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B6BC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6000" dirty="0"/>
          </a:p>
        </p:txBody>
      </p:sp>
      <p:sp>
        <p:nvSpPr>
          <p:cNvPr id="18" name="Text 12"/>
          <p:cNvSpPr/>
          <p:nvPr/>
        </p:nvSpPr>
        <p:spPr>
          <a:xfrm>
            <a:off x="9906000" y="7772400"/>
            <a:ext cx="2476500" cy="619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5A6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 / Low Value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13335000" y="3048000"/>
            <a:ext cx="381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5A6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13335000" y="3619500"/>
            <a:ext cx="381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D93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 ≥ 0.25</a:t>
            </a:r>
            <a:endParaRPr lang="en-US" sz="4800" dirty="0"/>
          </a:p>
        </p:txBody>
      </p:sp>
      <p:sp>
        <p:nvSpPr>
          <p:cNvPr id="21" name="Text 15"/>
          <p:cNvSpPr/>
          <p:nvPr/>
        </p:nvSpPr>
        <p:spPr>
          <a:xfrm>
            <a:off x="13335000" y="4533900"/>
            <a:ext cx="38100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data drift check triggers retraining.</a:t>
            </a:r>
            <a:endParaRPr lang="en-US" sz="19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0" y="6000750"/>
            <a:ext cx="3810000" cy="190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335000" y="6381750"/>
            <a:ext cx="381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D93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Recall &lt; 50%</a:t>
            </a:r>
            <a:endParaRPr lang="en-US" sz="4800" dirty="0"/>
          </a:p>
        </p:txBody>
      </p:sp>
      <p:sp>
        <p:nvSpPr>
          <p:cNvPr id="24" name="Text 17"/>
          <p:cNvSpPr/>
          <p:nvPr/>
        </p:nvSpPr>
        <p:spPr>
          <a:xfrm>
            <a:off x="13335000" y="7296150"/>
            <a:ext cx="38100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floor triggers model inspection.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57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TOP FEATURE IMPORTANCE SPECTRUM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04775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 Rules Everything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3238500"/>
            <a:ext cx="7620000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Tenure (Months)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810000"/>
            <a:ext cx="123825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11250" y="3619500"/>
            <a:ext cx="3810000" cy="2600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0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58.98%</a:t>
            </a:r>
            <a:endParaRPr lang="en-US" sz="9300" dirty="0"/>
          </a:p>
        </p:txBody>
      </p:sp>
      <p:sp>
        <p:nvSpPr>
          <p:cNvPr id="7" name="Text 4"/>
          <p:cNvSpPr/>
          <p:nvPr/>
        </p:nvSpPr>
        <p:spPr>
          <a:xfrm>
            <a:off x="1143000" y="5715000"/>
            <a:ext cx="5143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Resolution Rate</a:t>
            </a:r>
            <a:endParaRPr lang="en-US" sz="2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5715000"/>
            <a:ext cx="201930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0" y="5695950"/>
            <a:ext cx="1905000" cy="361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9.60%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143000" y="6572250"/>
            <a:ext cx="5143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Banking Usage</a:t>
            </a:r>
            <a:endParaRPr lang="en-US" sz="2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477000" y="6572250"/>
            <a:ext cx="144780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15300" y="6553200"/>
            <a:ext cx="1905000" cy="361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6.91%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143000" y="7429500"/>
            <a:ext cx="5143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/ Tenure Ratio</a:t>
            </a:r>
            <a:endParaRPr lang="en-US" sz="2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477000" y="7429500"/>
            <a:ext cx="120015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67650" y="7410450"/>
            <a:ext cx="1905000" cy="361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5.70%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1143000" y="8286750"/>
            <a:ext cx="5143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Support Calls</a:t>
            </a:r>
            <a:endParaRPr lang="en-US" sz="22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6477000" y="8286750"/>
            <a:ext cx="1066800" cy="381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34300" y="8267700"/>
            <a:ext cx="1905000" cy="361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5.06%</a:t>
            </a:r>
            <a:endParaRPr lang="en-US" sz="24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1500" y="5715000"/>
            <a:ext cx="5143500" cy="29527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82500" y="6057900"/>
            <a:ext cx="438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12382500" y="6572250"/>
            <a:ext cx="438150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 outweighs the next four drivers combined — newer relationships are the most fragile.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9525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D93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IMPLEMENTATION &amp; GOVERNANCE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8750"/>
            <a:ext cx="16002000" cy="876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Action Plan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3000" y="2952750"/>
            <a:ext cx="7620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5A64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 BUDGET ALLOCATION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3524250"/>
            <a:ext cx="1905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D938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238500" y="3543300"/>
            <a:ext cx="552450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/ High Value — relationship manager outreach within 24 hours and priority service resolution.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5334000"/>
            <a:ext cx="1905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38500" y="5353050"/>
            <a:ext cx="5524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Risk / High Value — loyalty incentives and cross-selling to deepen account stickiness.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7143750"/>
            <a:ext cx="1905000" cy="752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E8806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238500" y="7162800"/>
            <a:ext cx="5524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0A1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/ Low Value — low-cost automated digital campaigns and in-app feature prompts.</a:t>
            </a:r>
            <a:endParaRPr lang="en-US" sz="1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0" y="2857500"/>
            <a:ext cx="8572500" cy="7429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477500" y="3429000"/>
            <a:ext cx="666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6B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POST-DEPLOYMENT MONITORING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477500" y="4095750"/>
            <a:ext cx="685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· Input Drift (PSI)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0477500" y="4667250"/>
            <a:ext cx="68580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feature distributions; trigger retraining if PSI ≥ 0.25.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477500" y="5905500"/>
            <a:ext cx="685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· Performance Floor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10477500" y="6477000"/>
            <a:ext cx="68580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Rolling evaluation; trigger model inspection if recall drops below 50%.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477500" y="7715250"/>
            <a:ext cx="68580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· Champion-Challenger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10477500" y="8286750"/>
            <a:ext cx="68580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B8C4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Retrains evaluated against the live production model before deployment.</a:t>
            </a:r>
            <a:endParaRPr lang="en-US" sz="19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857500"/>
            <a:ext cx="114300" cy="7429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9033a69e-9deb-4efa-94ad-47e74c8b82d8</dc:title>
  <dc:subject>Presentation Export</dc:subject>
  <dc:creator>Design Export</dc:creator>
  <cp:lastModifiedBy>Design Export</cp:lastModifiedBy>
  <cp:revision>1</cp:revision>
  <dcterms:created xsi:type="dcterms:W3CDTF">2026-10-04T23:08:58Z</dcterms:created>
  <dcterms:modified xsi:type="dcterms:W3CDTF">2026-10-04T23:08:58Z</dcterms:modified>
</cp:coreProperties>
</file>